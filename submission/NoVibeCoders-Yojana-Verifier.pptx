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870c3f3854cf3" /><Relationship Type="http://schemas.openxmlformats.org/officeDocument/2006/relationships/extended-properties" Target="/docProps/app.xml" Id="R3c9de01a42d54d25" /><Relationship Type="http://schemas.openxmlformats.org/officeDocument/2006/relationships/officeDocument" Target="/ppt/presentation.xml" Id="R87829e12482c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80f165e6448a2"/>
  </p:sldMasterIdLst>
  <p:notesMasterIdLst>
    <p:notesMasterId xmlns:r="http://schemas.openxmlformats.org/officeDocument/2006/relationships" r:id="Rf699801734c64d7c"/>
  </p:notesMasterIdLst>
  <p:sldIdLst>
    <p:sldId xmlns:r="http://schemas.openxmlformats.org/officeDocument/2006/relationships" id="256" r:id="Rd98968d4a2ea4636"/>
    <p:sldId xmlns:r="http://schemas.openxmlformats.org/officeDocument/2006/relationships" id="257" r:id="R0b740f04cd3c4cf2"/>
    <p:sldId xmlns:r="http://schemas.openxmlformats.org/officeDocument/2006/relationships" id="258" r:id="R0d9061c5668e496d"/>
    <p:sldId xmlns:r="http://schemas.openxmlformats.org/officeDocument/2006/relationships" id="259" r:id="Re8bd17f237a14981"/>
    <p:sldId xmlns:r="http://schemas.openxmlformats.org/officeDocument/2006/relationships" id="260" r:id="Rfb8b8ae73d024665"/>
    <p:sldId xmlns:r="http://schemas.openxmlformats.org/officeDocument/2006/relationships" id="261" r:id="R2a193419cd4540f0"/>
    <p:sldId xmlns:r="http://schemas.openxmlformats.org/officeDocument/2006/relationships" id="262" r:id="Rbf3c144cb1d44ab4"/>
    <p:sldId xmlns:r="http://schemas.openxmlformats.org/officeDocument/2006/relationships" id="263" r:id="R7d87d913be18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58c456c8e945b1" /><Relationship Type="http://schemas.openxmlformats.org/officeDocument/2006/relationships/slideMaster" Target="/ppt/slideMasters/slideMaster1.xml" Id="R2fc80f165e6448a2" /><Relationship Type="http://schemas.openxmlformats.org/officeDocument/2006/relationships/notesMaster" Target="/ppt/notesMasters/notesMaster1.xml" Id="Rf699801734c64d7c" /><Relationship Type="http://schemas.openxmlformats.org/officeDocument/2006/relationships/presProps" Target="/ppt/presProps.xml" Id="R77e10d2f0be44b86" /><Relationship Type="http://schemas.openxmlformats.org/officeDocument/2006/relationships/tableStyles" Target="/ppt/tableStyles.xml" Id="Re917a503885c4d2c" /><Relationship Type="http://schemas.openxmlformats.org/officeDocument/2006/relationships/slide" Target="/ppt/slides/slide1.xml" Id="Rd98968d4a2ea4636" /><Relationship Type="http://schemas.openxmlformats.org/officeDocument/2006/relationships/slide" Target="/ppt/slides/slide2.xml" Id="R0b740f04cd3c4cf2" /><Relationship Type="http://schemas.openxmlformats.org/officeDocument/2006/relationships/slide" Target="/ppt/slides/slide3.xml" Id="R0d9061c5668e496d" /><Relationship Type="http://schemas.openxmlformats.org/officeDocument/2006/relationships/slide" Target="/ppt/slides/slide4.xml" Id="Re8bd17f237a14981" /><Relationship Type="http://schemas.openxmlformats.org/officeDocument/2006/relationships/slide" Target="/ppt/slides/slide5.xml" Id="Rfb8b8ae73d024665" /><Relationship Type="http://schemas.openxmlformats.org/officeDocument/2006/relationships/slide" Target="/ppt/slides/slide6.xml" Id="R2a193419cd4540f0" /><Relationship Type="http://schemas.openxmlformats.org/officeDocument/2006/relationships/slide" Target="/ppt/slides/slide7.xml" Id="Rbf3c144cb1d44ab4" /><Relationship Type="http://schemas.openxmlformats.org/officeDocument/2006/relationships/slide" Target="/ppt/slides/slide8.xml" Id="R7d87d913be18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32f80f3d38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3d5141b004c1c" /><Relationship Type="http://schemas.openxmlformats.org/officeDocument/2006/relationships/notesMaster" Target="/ppt/notesMasters/notesMaster1.xml" Id="R7f82c2e16d59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6e4789aeb4bd4" /><Relationship Type="http://schemas.openxmlformats.org/officeDocument/2006/relationships/notesMaster" Target="/ppt/notesMasters/notesMaster1.xml" Id="Rce36a8c2597747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1e76d921634fca" /><Relationship Type="http://schemas.openxmlformats.org/officeDocument/2006/relationships/notesMaster" Target="/ppt/notesMasters/notesMaster1.xml" Id="R1342ef7592624d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017cad38544fc1" /><Relationship Type="http://schemas.openxmlformats.org/officeDocument/2006/relationships/notesMaster" Target="/ppt/notesMasters/notesMaster1.xml" Id="R3773dad868f241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83d7bc574044c1" /><Relationship Type="http://schemas.openxmlformats.org/officeDocument/2006/relationships/notesMaster" Target="/ppt/notesMasters/notesMaster1.xml" Id="R9c3eb0f6dd4344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25119e785d4724" /><Relationship Type="http://schemas.openxmlformats.org/officeDocument/2006/relationships/notesMaster" Target="/ppt/notesMasters/notesMaster1.xml" Id="Re4ada208d3ae4b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198e6dee34875" /><Relationship Type="http://schemas.openxmlformats.org/officeDocument/2006/relationships/notesMaster" Target="/ppt/notesMasters/notesMaster1.xml" Id="R40d4362dfda8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eba270476f453f" /><Relationship Type="http://schemas.openxmlformats.org/officeDocument/2006/relationships/notesMaster" Target="/ppt/notesMasters/notesMaster1.xml" Id="R8f14393c6a17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links: https://yojana-verifier.streamlit.app/ and https://github.com/bhardwaj-ayush03/Yojana-Verifier. Important demo caveat: on 19 Oct 2026, the public deployment displayed MOCK / curated seed data; the local LIVE mode was verified separately. Before judging, configure Streamlit secrets and YOJANA_MOCK_MODE=false so the public URL demonstrates TinyFish. Event source: https://docs.google.com/document/d/1xUDI09_dWUyyTtNW_gKzmseAhTUgb1OIv4HhPp0Wesg/edit?usp=sharing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based on the product design and observed source behavior, not on a quantified market survey. The app deliberately treats a guideline as insufficient proof of a current open cycle. See README and src/discovery.py in https://github.com/bhardwaj-ayush03/Yojana-Verifier.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verified against code: app.py user-triggered button; src/discovery.py profile-derived queries, relevance/trusted .gov.in/.nic.in filtering and Fetch; src/extraction.py structured extraction with source quotes; src/eligibility.py and src/ranking.py deterministic checks; src/verification.py optional TinyFish Agent. https://github.com/bhardwaj-ayush03/Yojana-Verifier. No application submission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evidence: src/tinyfish_client.py uses Search GET with X-API-Key and query parameter; Fetch POST with URLs and markdown; Agent POST with constrained goal. src/discovery.py builds four profile-derived queries, fetches up to eight URLs, extracts at most two usable candidates. src/verification.py stops before login, personal data, CAPTCHA and submission. Stack: Streamlit, Pydantic, Groq openai/gpt-oss-120b, Python deterministic checks, SQLite FTS5 evidence store. https://github.com/bhardwaj-ayush03/Yojana-Verifier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local UI run, 19 Oct 2026: Bihar, ST, female, UG, B.Tech, government institution, income INR 250000. App Search details reported 40 hits, 8 relevant official sources, 5 fetched pages, 2 extracted schemes. Result: Post Matric Scholarship (PMS) for ST students, official guideline https://scholarships.gov.in/public/schemeGuidelines/EDUPostMatricScholarshipPMSforSTstudents.pdf. Status Needs Verification; no current deadline confirmed. Screenshot captured from localhost:8505 LIVE mode, not the public Streamlit deployment. Results may change with web content/providers.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checked 19 Oct 2026. TinyFish Search and Fetch free within 30 requests/min, 500 requests/hour and 150 URLs/min, 1000 URLs/day respectively; Agent $0.016 per step: https://www.tinyfish.ai/pricing. Groq openai/gpt-oss-120b input $0.15 per million tokens and output $0.60 per million tokens: https://console.groq.com/docs/model/openai/gpt-oss-120b. Streamlit Community Cloud is free for prototypes: https://streamlit.io/cloud. Model token assumptions are scenario estimates, not measured usage. Search uses four query calls; Fetch selects up to eight URLs; extraction is capped at two jobs in src/discovery.py.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plan is a hypothesis, not sales or a market survey. Adjacent education SaaS pricing anchor: iVake lists pricing from INR 5 per student per month, https://www.ivake.com/pricing; this is not a direct scholarship-verifier competitor. At 500 discovery checks × modeled $0.0018 Groq extraction = $0.90 variable model cost only, assuming each fits TinyFish free rate/volume limits. Institution price INR 1999/month is proposed for customer interviews; no exchange-rate gross margin is asserted. Paid Agent verification would be separately metered or limited; 5 steps cost $0.08 at current published TinyFish rates. Student access should remain free to avoid a fee barrier around public scheme information. Validate willingness to pay with college scholarship cells before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scope is planned, not already built. The repo and deployed prototype links are visible on this slide. Before submitting, switch public Streamlit from MOCK to LIVE and set TinyFish/Groq keys in Streamlit secrets, then demonstrate the Search details evidence. Event rules request functional TinyFish use, a public GitHub repository, demo video and social post as submission components; confirm current Unstop requirements. Event document: https://docs.google.com/document/d/1xUDI09_dWUyyTtNW_gKzmseAhTUgb1OIv4HhPp0Wesg/edit?usp=sharing.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65f5f416a44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1efd1c58b4a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b64e6a6d344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8c04397e4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7da87880c42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9b82d8349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F703FC-7335-471A-9EEC-29506EA2D4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933F4B-4BCB-4F5A-A52C-04CA824DDB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F051F3-139B-43AE-A9F8-7A0AD4188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40F7D-5FF2-4762-B081-B1DFE7E6B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27394F-958F-4430-8AC5-B28D5D2A4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473FAC-12C1-4445-889A-D3DCA4DED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034AFB-FDF2-44D9-BCC4-A6BAF4369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C354DE-9C4C-4E2B-A6B4-BF1F70D218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7067AB-42B1-400F-A9A1-9EC9C05B2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0CC2D6-6B98-44EE-BCD9-6B61447E31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d6dd07ccd459d" /><Relationship Type="http://schemas.openxmlformats.org/officeDocument/2006/relationships/slideLayout" Target="/ppt/slideLayouts/slideLayout1.xml" Id="Rc3575130c5b34d54" /><Relationship Type="http://schemas.openxmlformats.org/officeDocument/2006/relationships/slideLayout" Target="/ppt/slideLayouts/slideLayout2.xml" Id="R4fe47fb496664585" /><Relationship Type="http://schemas.openxmlformats.org/officeDocument/2006/relationships/slideLayout" Target="/ppt/slideLayouts/slideLayout3.xml" Id="R7ace6d9da9ed4270" /><Relationship Type="http://schemas.openxmlformats.org/officeDocument/2006/relationships/slideLayout" Target="/ppt/slideLayouts/slideLayout4.xml" Id="Redd6bf328d8741ea" /><Relationship Type="http://schemas.openxmlformats.org/officeDocument/2006/relationships/slideLayout" Target="/ppt/slideLayouts/slideLayout5.xml" Id="Rc85bdf8295c64861" /><Relationship Type="http://schemas.openxmlformats.org/officeDocument/2006/relationships/slideLayout" Target="/ppt/slideLayouts/slideLayout6.xml" Id="Rdef23cc14906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75130c5b34d54"/>
    <p:sldLayoutId xmlns:r="http://schemas.openxmlformats.org/officeDocument/2006/relationships" id="2147483650" r:id="R4fe47fb496664585"/>
    <p:sldLayoutId xmlns:r="http://schemas.openxmlformats.org/officeDocument/2006/relationships" id="2147483651" r:id="R7ace6d9da9ed4270"/>
    <p:sldLayoutId xmlns:r="http://schemas.openxmlformats.org/officeDocument/2006/relationships" id="2147483652" r:id="Redd6bf328d8741ea"/>
    <p:sldLayoutId xmlns:r="http://schemas.openxmlformats.org/officeDocument/2006/relationships" id="2147483653" r:id="Rc85bdf8295c64861"/>
    <p:sldLayoutId xmlns:r="http://schemas.openxmlformats.org/officeDocument/2006/relationships" id="2147483654" r:id="Rdef23cc14906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31f7859e94039" /><Relationship Type="http://schemas.openxmlformats.org/officeDocument/2006/relationships/hyperlink" Target="https://yojana-verifier.streamlit.app/" TargetMode="External" Id="R72c4eeece525438c" /><Relationship Type="http://schemas.openxmlformats.org/officeDocument/2006/relationships/hyperlink" Target="https://github.com/bhardwaj-ayush03/Yojana-Verifier" TargetMode="External" Id="Rb3a6b4f5908a4fa3" /><Relationship Type="http://schemas.openxmlformats.org/officeDocument/2006/relationships/notesSlide" Target="/ppt/notesSlides/notesSlide1.xml" Id="R03e5f82867ad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8408c81ea487d" /><Relationship Type="http://schemas.openxmlformats.org/officeDocument/2006/relationships/notesSlide" Target="/ppt/notesSlides/notesSlide2.xml" Id="R6bd71b1225f8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d4f6816914117" /><Relationship Type="http://schemas.openxmlformats.org/officeDocument/2006/relationships/notesSlide" Target="/ppt/notesSlides/notesSlide3.xml" Id="R6bb6bca2444b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8aaf7f11c4b6c" /><Relationship Type="http://schemas.openxmlformats.org/officeDocument/2006/relationships/notesSlide" Target="/ppt/notesSlides/notesSlide4.xml" Id="R56befaf9ba1a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36e4d220341f2" /><Relationship Type="http://schemas.openxmlformats.org/officeDocument/2006/relationships/image" Target="/ppt/media/image.jpeg" Id="R8ae097dca7114d14" /><Relationship Type="http://schemas.openxmlformats.org/officeDocument/2006/relationships/notesSlide" Target="/ppt/notesSlides/notesSlide5.xml" Id="R06d8caf8aef1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044f711bb43ea" /><Relationship Type="http://schemas.openxmlformats.org/officeDocument/2006/relationships/notesSlide" Target="/ppt/notesSlides/notesSlide6.xml" Id="Ree8c0ebfd960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920caa7374467" /><Relationship Type="http://schemas.openxmlformats.org/officeDocument/2006/relationships/notesSlide" Target="/ppt/notesSlides/notesSlide7.xml" Id="R2ffe749b330148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5d6fe2da7473c" /><Relationship Type="http://schemas.openxmlformats.org/officeDocument/2006/relationships/hyperlink" Target="https://yojana-verifier.streamlit.app/" TargetMode="External" Id="R48bfd00d97e04369" /><Relationship Type="http://schemas.openxmlformats.org/officeDocument/2006/relationships/hyperlink" Target="https://github.com/bhardwaj-ayush03/Yojana-Verifier" TargetMode="External" Id="R1874f633db314aab" /><Relationship Type="http://schemas.openxmlformats.org/officeDocument/2006/relationships/notesSlide" Target="/ppt/notesSlides/notesSlide8.xml" Id="Rbf535d9c6cfa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7DFA2-BB35-4C0E-9175-DEDC131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2C856-3FB3-49AC-B8C4-95D201B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KRITICAL HACKS’26  /  ONLINE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7C44F-D847-4B86-8A60-1AA80F0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99000"/>
              </a:lnSpc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Yojana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Verifier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274C-F25C-40D9-AAF9-6ADC2C85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647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D9E8EA"/>
                </a:solidFill>
                <a:latin typeface="Noto Sans"/>
                <a:ea typeface="Noto Sans"/>
                <a:cs typeface="Noto Sans"/>
              </a:rPr>
              <a:t>Scholarship discovery that shows its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D17DC-F045-4203-B59D-424BA25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E76D0-540A-483E-AAE2-ED1F7E7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TinyFish-powered search &amp; fetch  •  Evidence-backed eligibility  •  Human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DE53C-D283-4D91-ABDB-E0C7EBC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04875"/>
            <a:ext cx="3143250" cy="4191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247D2-7F35-4DEC-BB36-C4B2A9C3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09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NoVibeCoders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8E399-08F5-448D-95EE-CC8B1BD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288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rPr>
              <a:t>Ayush Bhardwaj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rPr>
              <a:t>Saksham Arora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rPr>
              <a:t>Sanat Pahuja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D9E8EA"/>
                </a:solidFill>
                <a:latin typeface="Noto Sans"/>
                <a:ea typeface="Noto Sans"/>
                <a:cs typeface="Noto Sans"/>
              </a:rPr>
              <a:t>Ayush Gori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54E7A-6372-45B2-A304-D6694CC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AD09F-0A78-474F-B00E-0F43EA6C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91B2A"/>
                </a:solidFill>
                <a:latin typeface="Noto Sans"/>
                <a:ea typeface="Noto Sans"/>
                <a:cs typeface="Noto Sans"/>
              </a:rPr>
              <a:t>WORKING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C2EF2-8735-4B66-8C3F-AFBB8EE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245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pPr>
            <a:r>
              <a:rPr u="sng">
                <a:solidFill>
                  <a:srgbClr val="14B8A6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72c4eeece525438c"/>
              </a:rPr>
              <a:t>yojana-verifier.streamlit.app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F5B57-D548-4D50-9C77-E2EEDC8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2103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3C7CA"/>
                </a:solidFill>
                <a:latin typeface="Noto Sans"/>
                <a:ea typeface="Noto Sans"/>
                <a:cs typeface="Noto Sans"/>
              </a:defRPr>
            </a:pPr>
            <a:r>
              <a:rPr u="sng">
                <a:solidFill>
                  <a:srgbClr val="14B8A6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b3a6b4f5908a4fa3"/>
              </a:rPr>
              <a:t>github.com/bhardwaj-ayush03/Yojana-Verifier</a:t>
            </a:r>
          </a:p>
        </p:txBody>
      </p:sp>
    </p:spTree>
    <p:extLst>
      <p:ext uri="{BB962C8B-B14F-4D97-AF65-F5344CB8AC3E}">
        <p14:creationId xmlns:p14="http://schemas.microsoft.com/office/powerpoint/2010/main" val="278009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5A779-70B3-47AD-B792-E06B807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YOJANA VERIFIER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83899-D298-4E48-B911-52A80F72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The problem: “eligible” is hard to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BF1B8-0A6C-41D0-B762-E5815A4F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020A3-8C9C-4161-9BF2-D891B094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015B2-2D0C-4634-A702-824D6E9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A scholarship match needs more than a search-result title.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93341-5388-4F3A-870F-07AE58CC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34766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0AAC-B995-423E-AFEB-BF8E634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704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1281B-2098-4D8D-9743-E75748C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Scattered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3FCD3-95D1-4ACA-ACCD-00637FFD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971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National and state portals publish schemes across different pages and PDF guidelines.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2F0AA-B925-411C-8DDA-70FD9B1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4766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5A20B-4C2C-40ED-84D2-188D6573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19400"/>
            <a:ext cx="704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8B66F-D309-459E-89B3-2A072D6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766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Profile-specific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737D6-0749-4DF2-9F71-B9D9D67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57650"/>
            <a:ext cx="2971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Domicile, category, course, income and marks change what actually applies.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24B53-0B46-4E15-8819-D319356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19375"/>
            <a:ext cx="34766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8A906-FEB3-40AB-A47D-06AFDA7C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704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E0FD6-A9CD-4B22-A25B-990B650F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Stale 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64854-2892-49E4-864A-4DA6907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2971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Old guideline pages can describe a scheme without proving this year’s application window is open.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3C0F7-D606-4C5C-8196-4C23403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Cost of failure: wasted applications, missed deadlines, and misplaced confidence.</a:t>
            </a:r>
          </a:p>
        </p:txBody>
      </p:sp>
    </p:spTree>
    <p:extLst>
      <p:ext uri="{BB962C8B-B14F-4D97-AF65-F5344CB8AC3E}">
        <p14:creationId xmlns:p14="http://schemas.microsoft.com/office/powerpoint/2010/main" val="283660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169D1-9B84-4609-8E27-0C6E5374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YOJANA VERIFIER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EB349-778C-4AA0-A485-699780A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One profile → source-backed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6A4E2-76C2-43AE-8EE8-021844F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22B93-F588-49D0-8C88-EB91499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AE08-E5D0-4A39-95D9-04CE0B32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The student clicks Find scholarships. The app retrieves, checks and explains.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DFABC-54CD-4CA0-936A-DCD32418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3476625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C230F-377C-42E5-88F8-1CABB67F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1 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2FE22-77A2-45FA-93FA-85B6D5D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State • category • course • income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A3FDB-BCD6-41F9-815E-E592EA4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3476625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5A8E4-6830-4111-A006-5645625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2  OFFICIAL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E8E1A-040C-48BC-8843-BEBCB2E5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9567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E0EFF1"/>
                </a:solidFill>
                <a:latin typeface="Noto Sans"/>
                <a:ea typeface="Noto Sans"/>
                <a:cs typeface="Noto Sans"/>
              </a:rPr>
              <a:t>TinyFish Search → trusted-source filter → Fetch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E1D5F-47DF-4741-A09C-56C547F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3476625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54304-5F6A-46C4-99FD-FED29FF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86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3  DECISION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7A49F-7336-48C5-ACD1-7B39D11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9567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Groq extraction → deterministic checks → source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B677D-CB29-4172-B57D-BB94E8C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What users see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6BC92-BADC-4222-8384-685251B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108CA-6C16-41D8-84B7-AE1DFDA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Relevant schemes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8FC7A-591B-4512-840E-1AD18D7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054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7198A-FC9A-4733-ACA8-A48C111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62600"/>
            <a:ext cx="1628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Why / why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851D3-6F00-4E55-B047-29B9276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EC516-E079-4FDA-99CB-FDE058B4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626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Needs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912B6-05BD-4842-88CE-AA71735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054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9E40D-B0BE-4FBF-AFDF-B03C20CC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Official source</a:t>
            </a:r>
          </a:p>
        </p:txBody>
      </p:sp>
    </p:spTree>
    <p:extLst>
      <p:ext uri="{BB962C8B-B14F-4D97-AF65-F5344CB8AC3E}">
        <p14:creationId xmlns:p14="http://schemas.microsoft.com/office/powerpoint/2010/main" val="1377438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04CAE-0148-4590-B304-FC247CE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REAL INTEGRATION  /  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FA839-A07E-42D6-B13A-F430EBC9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TinyFish is on the critical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DB1BC-6FD8-4033-8F60-B550CE8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5632-7A90-44AD-971D-A2EAEBC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A1FFA-FB62-4457-AF7E-118E508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FD6DA"/>
                </a:solidFill>
                <a:latin typeface="Noto Sans"/>
                <a:ea typeface="Noto Sans"/>
                <a:cs typeface="Noto Sans"/>
              </a:rPr>
              <a:t>Not a logo in the README: the live result depends on TinyFish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AB958-FB1A-437C-BFFF-CFF7F64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647950" cy="1952625"/>
          </a:xfrm>
          <a:prstGeom xmlns:a="http://schemas.openxmlformats.org/drawingml/2006/main" prst="roundRect">
            <a:avLst>
              <a:gd name="adj" fmla="val 829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563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1C6F6-ED31-4118-97E8-9E09118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Streamlit + Pydantic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98AA0-4E89-4F23-AC3F-AFB3E9F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52850"/>
            <a:ext cx="233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rPr>
              <a:t>Profile form &amp;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42BAC-E6BA-480E-823C-208214C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52825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>
            <a:defPPr algn="ctr"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C8F9E-262E-43F9-9B02-8A887724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647950" cy="1952625"/>
          </a:xfrm>
          <a:prstGeom xmlns:a="http://schemas.openxmlformats.org/drawingml/2006/main" prst="roundRect">
            <a:avLst>
              <a:gd name="adj" fmla="val 8293"/>
            </a:avLst>
          </a:prstGeom>
          <a:solidFill xmlns:a="http://schemas.openxmlformats.org/drawingml/2006/main">
            <a:srgbClr val="124D59"/>
          </a:solidFill>
          <a:ln xmlns:a="http://schemas.openxmlformats.org/drawingml/2006/main" w="9525">
            <a:solidFill>
              <a:srgbClr val="3563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69BFB-59F8-4D34-AAA4-6DF0F50E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765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TinyFish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2146-CFAE-407B-BDAA-EF98F82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52850"/>
            <a:ext cx="233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rPr>
              <a:t>4 profile-derived queries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4CA26-A053-41BF-9286-7102FB5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52825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>
            <a:defPPr algn="ctr"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8138B-B7A8-4F03-A64A-0960FE3E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647950" cy="1952625"/>
          </a:xfrm>
          <a:prstGeom xmlns:a="http://schemas.openxmlformats.org/drawingml/2006/main" prst="roundRect">
            <a:avLst>
              <a:gd name="adj" fmla="val 8293"/>
            </a:avLst>
          </a:prstGeom>
          <a:solidFill xmlns:a="http://schemas.openxmlformats.org/drawingml/2006/main">
            <a:srgbClr val="124D59"/>
          </a:solidFill>
          <a:ln xmlns:a="http://schemas.openxmlformats.org/drawingml/2006/main" w="9525">
            <a:solidFill>
              <a:srgbClr val="3563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908D0-57B4-4915-B5BE-18994E6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765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TinyFish 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4CAB9-88F1-41C7-BC9A-14DE700E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52850"/>
            <a:ext cx="233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rPr>
              <a:t>Up to 8 official URLs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574A8-BBB3-4F6A-A1DC-6D7697C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52825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>
            <a:defPPr algn="ctr"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ctr"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7D721-19CB-4537-9540-412DE022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2647950" cy="1952625"/>
          </a:xfrm>
          <a:prstGeom xmlns:a="http://schemas.openxmlformats.org/drawingml/2006/main" prst="roundRect">
            <a:avLst>
              <a:gd name="adj" fmla="val 829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563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8D164-1E99-441F-809F-8C5FDB1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765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Groq + Python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F11B2-F8A6-4B53-A075-5E6428F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52850"/>
            <a:ext cx="233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C1DEE0"/>
                </a:solidFill>
                <a:latin typeface="Noto Sans"/>
                <a:ea typeface="Noto Sans"/>
                <a:cs typeface="Noto Sans"/>
              </a:rPr>
              <a:t>Extract, verify &amp; 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64D31-D83B-416F-988D-FA45F5E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871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7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6D7B8-0CFC-484C-83CE-4BE4009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Optional TinyFish Agent checks a public portal page. It never logs in, enters personal data, solves CAPTCHA or submits.</a:t>
            </a:r>
          </a:p>
        </p:txBody>
      </p:sp>
    </p:spTree>
    <p:extLst>
      <p:ext uri="{BB962C8B-B14F-4D97-AF65-F5344CB8AC3E}">
        <p14:creationId xmlns:p14="http://schemas.microsoft.com/office/powerpoint/2010/main" val="274849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E9D3C-3E45-4E4C-9D21-90B6C12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YOJANA VERIFIER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D26A6-6F9A-47D6-92AC-69533790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Proof: a live Bihar/ST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A566-8384-41EA-9546-FDD6759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97A16-8AB6-4088-902F-C1EE4355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204E6-2ACF-401D-B4CF-DB5BF95C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Local run  •  19 Oct 2026  •  UG / B.Tech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87697-0828-4CA4-A40B-485B1A7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810000" cy="6477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4811E-4009-4B33-A342-4DAFF4D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73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91ECA-FBA9-408C-AD38-587261B4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86050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search hits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8949F-5398-40E9-AFC0-3A2D4A7C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24225"/>
            <a:ext cx="3810000" cy="6477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8B13E-96ED-4F58-9BBF-50D397DC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73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EE3E0-0401-41E2-9EA0-D56AF34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956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relevant official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A2F29-2F55-4F72-9E26-5D79316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3810000" cy="6477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7E516-DE64-42A7-A6F5-938C5DA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73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8BB79-A54F-4B87-8E97-075BC7B6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05300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readable fetched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EDE62-14C5-4CF0-8599-5280A3F9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3810000" cy="6477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4D384-6E48-4AB3-B6BE-7EC2382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73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E4A18-77C7-4FA8-A88E-7DB4139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1492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extracted schemes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03A08-DD39-4428-A1A4-6546B10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691515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CE218-A437-4853-8817-DB6B98BF0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097dca7114d14"/>
          <a:srcRect xmlns:a="http://schemas.openxmlformats.org/drawingml/2006/main" l="23000" t="25000" r="2000" b="17000"/>
          <a:stretch xmlns:a="http://schemas.openxmlformats.org/drawingml/2006/main"/>
        </p:blipFill>
        <p:spPr>
          <a:xfrm xmlns:a="http://schemas.openxmlformats.org/drawingml/2006/main">
            <a:off x="4819650" y="2590800"/>
            <a:ext cx="6648450" cy="3638550"/>
          </a:xfrm>
          <a:prstGeom xmlns:a="http://schemas.openxmlformats.org/drawingml/2006/main" prst="roundRect">
            <a:avLst>
              <a:gd name="adj" fmla="val 2618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3A24-99EF-4B7C-A5F1-6EF3F176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3933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26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Outcome: official PMS for ST guideline found; current cycle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432426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22B22-9DD2-48AC-87F8-020CE21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YOJANA VERIFIER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4F341-5286-4F27-95F9-79962B0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Price economics: an auditable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45B2A-7100-4D74-B5EB-019BFFFA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CE181-EC74-439D-88A2-4AE6483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750C5-367B-47A4-A158-1C9EDE1A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Published rates × explicit assumptions; not an actual usage invoice.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632CC-FD8C-47E9-B7C3-129DF98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10299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85F50-531C-4899-9C06-F1AF740B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28900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COMPONENT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30CB1-F28D-4087-AFF5-CF05EB33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81ACB-8F60-4507-AB52-CD6DD00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ESTIMATED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107DC-1F37-443C-B0EF-7C2F6CA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81325"/>
            <a:ext cx="11029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0A3C7-3E62-4AFE-8458-657059B4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TinyFish Search + Fetch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757F1-7B65-48BB-94DD-615F446A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527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4 queries + up to 8 URLs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9B7FC-101C-46E1-A854-385BB7C7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$0 within free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E4FBE-DE85-4A9D-8DB4-5DA146E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1029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FE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67124-1354-4E63-8942-D6370856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0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Groq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AB720-432E-413D-AD9B-C47324C4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2 calls; total 8k input + 1k output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0C88C-4400-42BD-9C10-904000C9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$0.0018 /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9E4DA-2A48-4D2F-AC48-E9810447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1029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8CC00-E71F-41FB-9D06-A2E6C68C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Optional TinyFish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DA20F-B585-4283-B0B0-233ECBA5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672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5-step portal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5DAA2-B905-4A75-AA60-2B1A81AB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$0.08 /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E978C-4BEB-4E31-8098-45833B6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1029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FE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40DC5-A77D-4728-8152-1BC3EFBB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4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Demo hosting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4F5B3-F966-4F0F-A5D1-06301F5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24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Streamlit Community 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2F73B-D767-4BF0-938A-26BC10F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14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Free prototype 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54CD4-EEF2-4F7C-8DB8-6DFE89A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Math: (8,000 × $0.15 + 1,000 × $0.60) / 1,000,000 = $0.0018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8595B-DEAC-44FD-ADCA-0C605EF5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Excludes support, production hosting, failed retries and taxes. Rate limits still apply.</a:t>
            </a:r>
          </a:p>
        </p:txBody>
      </p:sp>
    </p:spTree>
    <p:extLst>
      <p:ext uri="{BB962C8B-B14F-4D97-AF65-F5344CB8AC3E}">
        <p14:creationId xmlns:p14="http://schemas.microsoft.com/office/powerpoint/2010/main" val="823644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D25BC-3838-4E84-A5A4-1E1D636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YOJANA VERIFIER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40D79-8605-4682-B7DC-C4D3847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Revenue model: free students, paid institutions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6ECEC-ACE6-464A-B28E-8E40873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7C2D-3071-4B01-905F-6D5FD2AD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EF248-FFAF-4A47-9560-E705FEE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A proposed pilot, not current revenue or validated willingness to pay.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760A4-0725-4A98-9547-F6F4C58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2387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AC6E4-A37E-4C07-8C51-0B4DD35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9C258-4CB7-494A-9CE1-2A6845EF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90875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480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₹0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907AA-3B1F-4EB5-80ED-B2FC5D7E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Profile search, source links and transparent uncertainty stay free.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A9183-D74A-44E6-9179-D96FAF2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55435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C419A-8E0C-40D8-B176-8F63D663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COLLEGES / SCHOLARSHIP 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66811-4909-476B-A4CA-065C08BF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4762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₹1,999 / 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D577F-9C59-4B00-8BB3-4400247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D5E6E9"/>
                </a:solidFill>
                <a:latin typeface="Noto Sans"/>
                <a:ea typeface="Noto Sans"/>
                <a:cs typeface="Noto Sans"/>
              </a:rPr>
              <a:t>Pilot hypothesis: up to 500 discovery checks, reporting and reminders.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C2FA9-5439-48EA-974D-2D777D98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22B3B"/>
                </a:solidFill>
                <a:latin typeface="Noto Sans"/>
                <a:ea typeface="Noto Sans"/>
                <a:cs typeface="Noto Sans"/>
              </a:rPr>
              <a:t>Why this starting price?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AC45E-948A-47F7-9A06-81A0CB6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B78"/>
                </a:solidFill>
                <a:latin typeface="Noto Sans"/>
                <a:ea typeface="Noto Sans"/>
                <a:cs typeface="Noto Sans"/>
              </a:rPr>
              <a:t>Adjacent India education SaaS advertises from ₹5/student/month. At 500 checks, modeled Groq extraction is ~$0.90; delivery, support and Agent usage need separate pricing.</a:t>
            </a:r>
          </a:p>
        </p:txBody>
      </p:sp>
    </p:spTree>
    <p:extLst>
      <p:ext uri="{BB962C8B-B14F-4D97-AF65-F5344CB8AC3E}">
        <p14:creationId xmlns:p14="http://schemas.microsoft.com/office/powerpoint/2010/main" val="822984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99632-1CDD-45C8-8653-C1598777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FUTURE SCOPE  / 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43AFC-FB7D-4184-A364-CDCD2CC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0CD26-48B1-4662-9F86-BA11AAA8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0B2C8-D8A8-4717-8614-F57A9A94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505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9DB8C3"/>
                </a:solidFill>
                <a:latin typeface="Noto Sans"/>
                <a:ea typeface="Noto Sans"/>
                <a:cs typeface="Noto Sans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94B7E-A7F5-4B85-831F-12267C47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20425" cy="981075"/>
          </a:xfrm>
          <a:prstGeom xmlns:a="http://schemas.openxmlformats.org/drawingml/2006/main" prst="roundRect">
            <a:avLst>
              <a:gd name="adj" fmla="val 1456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A536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F1F50-C256-44A8-9124-8D979E57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0C9B8-3AB6-4111-A8B0-37DAD98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764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Cycle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A52F-FAA6-408D-B416-E6C6596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rPr>
              <a:t>Detect changed deadlines and opening dates with evidence snapshots.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45FF5-C9F6-4457-8D4C-A18DFD9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1020425" cy="981075"/>
          </a:xfrm>
          <a:prstGeom xmlns:a="http://schemas.openxmlformats.org/drawingml/2006/main" prst="roundRect">
            <a:avLst>
              <a:gd name="adj" fmla="val 1456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A53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FFDC3-058F-4B7E-A4D9-8469EA2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F5C5F-56F3-42A5-A5D7-85752832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575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Better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CCD78-EEEC-4ECA-A16C-3BE30355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rPr>
              <a:t>Expand state portals; add more robust PDF and page extraction.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5FC27-800D-469D-BAE3-9355A37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1020425" cy="981075"/>
          </a:xfrm>
          <a:prstGeom xmlns:a="http://schemas.openxmlformats.org/drawingml/2006/main" prst="roundRect">
            <a:avLst>
              <a:gd name="adj" fmla="val 1456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A53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EC1B8-BD80-469A-AE29-513CA0E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B8A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7C1A8-C112-419E-8A49-831069C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38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Institution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6D0F7-736D-4BD7-B209-24154CF7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62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C7DFE1"/>
                </a:solidFill>
                <a:latin typeface="Noto Sans"/>
                <a:ea typeface="Noto Sans"/>
                <a:cs typeface="Noto Sans"/>
              </a:rPr>
              <a:t>Test counselor dashboards, reminders and pricing with colleges.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A83CD-CE03-41CD-8542-46F80B4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1099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60BCA-DFA2-45F1-A0F2-9220570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Try the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27F39-9317-4107-89E0-ADAB4F1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62650"/>
            <a:ext cx="3648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u="sng">
                <a:solidFill>
                  <a:srgbClr val="14B8A6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48bfd00d97e04369"/>
              </a:rPr>
              <a:t>yojana-verifier.streamlit.app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49749-DBDC-4AA5-8E6F-F37E128B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9626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4B8A6"/>
                </a:solidFill>
                <a:latin typeface="Noto Sans"/>
                <a:ea typeface="Noto Sans"/>
                <a:cs typeface="Noto Sans"/>
              </a:defRPr>
            </a:pPr>
            <a:r>
              <a:rPr u="sng">
                <a:solidFill>
                  <a:srgbClr val="14B8A6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1874f633db314aab"/>
              </a:rPr>
              <a:t>github.com/bhardwaj-ayush03/Yojana-Verifier</a:t>
            </a:r>
          </a:p>
        </p:txBody>
      </p:sp>
    </p:spTree>
    <p:extLst>
      <p:ext uri="{BB962C8B-B14F-4D97-AF65-F5344CB8AC3E}">
        <p14:creationId xmlns:p14="http://schemas.microsoft.com/office/powerpoint/2010/main" val="1129567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2026-10-19T15:35:27.0120000Z</dcterms:created>
  <dcterms:modified xsi:type="dcterms:W3CDTF">2026-10-19T15:35:27.0120000Z</dcterms:modified>
</coreProperties>
</file>